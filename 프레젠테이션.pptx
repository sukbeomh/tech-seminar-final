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0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 varScale="1">
        <p:scale>
          <a:sx n="121" d="100"/>
          <a:sy n="12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C2D3A-E01C-3748-9FDD-9680063C35D8}" type="datetimeFigureOut">
              <a:rPr kumimoji="1" lang="ko-Kore-KR" altLang="en-US" smtClean="0"/>
              <a:t>2024. 10. 15.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A64A-ECDA-C749-95E2-2301959B8AB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151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1E1A5-5286-3866-1DD0-3FEDB9BF5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8F74C4-F9FB-224C-EBC3-2A4563606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77484-D762-2BF2-4D01-C040073A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0B1E-F135-F446-A6A7-1F5BAB21282B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A7B88-0853-6C00-50E9-08FE7CFA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6CF66C-B992-7E04-3E5E-515ECCBA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9794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33EDE-C76E-3458-2CCE-1070F995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958F9B-3173-3A1E-6A78-1817B9A0F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DB904-847D-2CF7-B3E8-9C921EED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4888-2F17-2E49-A62B-424C5FEAA0AB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C10AD-51CA-8BC3-B953-8EAFE3B0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94DEF-19D5-32D1-43E5-111CD83A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034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55279-E588-4E41-647A-5F67A4F3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F68C5-8231-3385-69B5-AC12CE753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BBB87-D879-02C3-6D01-F32CB59A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D503-2C5F-3341-AA56-70108E6424C2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51C04-6CFA-0E77-D3F1-2DE4FC15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B926A7-0AE0-D9F3-8A6C-8F91909D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280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3A3D5-AE47-41AE-C4BA-B28FE8FA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E5B04-E41D-C0FB-45C4-8B05BC59A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65B7B8-AAB9-E4E7-E7C6-7D511E9D9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41E97B-2BA5-2D61-4DDC-D66E8BC2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7D9C-E6CB-8B44-B557-F002B6EE1A2E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44157A-6822-B6C5-6397-5D465C36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5A091-0272-68C6-3C4D-737E1135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92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3CD7D-54CB-E8CF-AB37-CADF3CD2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CC4E6-1B77-8886-396D-B4F1B9175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52FD97-5AA9-5E4F-2D8A-402FAD8AA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C9B6F9-FDEC-46D4-2011-D621C8548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9DB312-F719-0226-E199-3DBB2150E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64C0B1-DFAE-D066-BA93-1AD0B349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B1E6-C335-0A4D-ACF7-1E719FEE6C66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9DB705-AF62-FCE8-DD50-79CBF829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EEC16D-08FE-DC4C-FE61-3C17DFC7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2484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09227-65BD-A9B7-2790-169980B9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F94087-F44F-5763-98C7-EB648AFF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2DAF-B331-264E-8F6A-DE4E00E63CEB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469B41-00BD-2A4B-9AE6-313A401F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884923-7ACD-60D4-97DC-E3E4E9D3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73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857EDE-2334-EF41-ABD6-33240D53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45755-62E3-3448-AF44-548F91DF19EB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06F692-5153-30F9-402A-F9B79C5C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07AE3-0202-900C-411B-51710DDC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2543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1F99A-CE3D-857A-9B79-FA57BD4C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E7E72-3EB8-2C19-F83A-911BDD907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2072A-4A88-147B-8EF1-4E5D5348A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DB4055-0907-1ADF-25E5-644B84D7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022E-E882-B74B-A617-C414B38BBA04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9A6066-1033-2BAC-A00A-63A6925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75F0E1-478B-8664-6595-A553CDFC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7839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71A89-FE90-0217-A2E1-694ADC6A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4607D1-C87D-A67A-5C85-3158FDE7C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57C800-7662-2D17-5EC2-6E33AE3BB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37EFB0-3E8F-D27E-9920-80898A8A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18DC-8EA2-3243-BA3E-6B1E7F821139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F8DAEF-3B1C-D231-3C95-AF430F21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D3D0C7-EAE7-1324-E611-018B4308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450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687F5-29BA-5FD5-A8BF-F1EF1ED1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453C78-F4C3-C58E-FAB5-BC02C3A4B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4E8B2-BE8E-944D-007D-872EB658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B6E-2BF5-3644-9C40-3839F495D888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546382-13AA-E0D7-13A8-A50FE3BF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5E0981-FDF4-506A-4287-6ECC3FB6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9107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A5970C-D6C8-A5D2-A336-251AC5438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314FF4-53D6-AAF6-1FAE-ABFAC4E69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12867-0610-C17B-16CC-4D7973D4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ECFD-32C0-4F49-AE0F-D048667B90EC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47E964-2D22-6303-3FD2-6DCA5D95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DD57A-B613-ED47-17C1-2E8D99E0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3234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E73A4-30A1-95F2-0765-F602ED53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EA8F3F-B740-CEB3-C78F-E1F950B9F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1723E4-F9C4-112E-659C-73002D353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334A6-B0B4-484E-89BE-85A092AAD7C8}" type="datetime1">
              <a:rPr kumimoji="1" lang="ko-KR" altLang="en-US" smtClean="0"/>
              <a:t>2024. 10. 15.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AA61E-93E8-D69D-EFE9-3F03746E5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A929D4-8685-094D-6545-F7980C23E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AF1F0-1F37-154F-AE66-282A2F27AF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4463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ou-group/textgra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uggingface.co/TextGrad" TargetMode="External"/><Relationship Id="rId4" Type="http://schemas.openxmlformats.org/officeDocument/2006/relationships/hyperlink" Target="https://youtu.be/Qks4UEsRwl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326CD7F-A2FC-C88C-D45E-CAF8D5FEB0E6}"/>
              </a:ext>
            </a:extLst>
          </p:cNvPr>
          <p:cNvSpPr/>
          <p:nvPr/>
        </p:nvSpPr>
        <p:spPr>
          <a:xfrm rot="1490612">
            <a:off x="-950385" y="-1309307"/>
            <a:ext cx="2093023" cy="5954569"/>
          </a:xfrm>
          <a:prstGeom prst="rect">
            <a:avLst/>
          </a:prstGeom>
          <a:solidFill>
            <a:srgbClr val="1907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09E69D-70C3-8567-C38C-EB5DD3FA3886}"/>
              </a:ext>
            </a:extLst>
          </p:cNvPr>
          <p:cNvSpPr/>
          <p:nvPr/>
        </p:nvSpPr>
        <p:spPr>
          <a:xfrm rot="1490612">
            <a:off x="510395" y="-1016546"/>
            <a:ext cx="82596" cy="5954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A119025-8A3A-068A-E7F5-6D7C2F05EDBD}"/>
              </a:ext>
            </a:extLst>
          </p:cNvPr>
          <p:cNvSpPr txBox="1">
            <a:spLocks/>
          </p:cNvSpPr>
          <p:nvPr/>
        </p:nvSpPr>
        <p:spPr>
          <a:xfrm>
            <a:off x="3825766" y="-46914"/>
            <a:ext cx="8366234" cy="1749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9600" b="1" dirty="0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 [ ˌ</a:t>
            </a:r>
            <a:r>
              <a:rPr kumimoji="1" lang="en-US" altLang="ko-Kore-KR" sz="9600" b="1" dirty="0" err="1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bliːdɪŋˈedʒ</a:t>
            </a:r>
            <a:r>
              <a:rPr kumimoji="1" lang="en-US" altLang="ko-Kore-KR" sz="9600" b="1" dirty="0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 ]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8DE01D-009C-7470-B15A-30B3CB46F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388" y="534657"/>
            <a:ext cx="7994716" cy="1912881"/>
          </a:xfrm>
        </p:spPr>
        <p:txBody>
          <a:bodyPr anchor="ctr">
            <a:normAutofit/>
          </a:bodyPr>
          <a:lstStyle/>
          <a:p>
            <a:r>
              <a:rPr kumimoji="1" lang="en-US" altLang="ko-Kore-KR" sz="8800" b="1" dirty="0">
                <a:ln>
                  <a:solidFill>
                    <a:schemeClr val="bg1"/>
                  </a:solidFill>
                </a:ln>
                <a:latin typeface="Freesentation 9 Black" pitchFamily="2" charset="-127"/>
                <a:ea typeface="Freesentation 9 Black" pitchFamily="2" charset="-127"/>
              </a:rPr>
              <a:t>Bleeding Edge</a:t>
            </a:r>
            <a:endParaRPr kumimoji="1" lang="ko-Kore-KR" altLang="en-US" sz="8800" b="1" dirty="0">
              <a:ln>
                <a:solidFill>
                  <a:schemeClr val="bg1"/>
                </a:solidFill>
              </a:ln>
              <a:latin typeface="Freesentation 9 Black" pitchFamily="2" charset="-127"/>
              <a:ea typeface="Freesentation 9 Black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AD08C3-8535-9BDC-A863-7216E402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0587"/>
            <a:ext cx="9144000" cy="969123"/>
          </a:xfrm>
        </p:spPr>
        <p:txBody>
          <a:bodyPr anchor="ctr">
            <a:normAutofit/>
          </a:bodyPr>
          <a:lstStyle/>
          <a:p>
            <a:r>
              <a:rPr kumimoji="1" lang="en" altLang="ko-Kore-KR" sz="4000" b="1" dirty="0">
                <a:latin typeface="Freesentation 8 ExtraBold" pitchFamily="2" charset="-127"/>
                <a:ea typeface="Freesentation 8 ExtraBold" pitchFamily="2" charset="-127"/>
              </a:rPr>
              <a:t>Automatic “Differentiation” via Text</a:t>
            </a:r>
            <a:endParaRPr kumimoji="1" lang="ko-Kore-KR" altLang="en-US" sz="40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A08D50C-92A7-9520-29D8-82257A46C562}"/>
              </a:ext>
            </a:extLst>
          </p:cNvPr>
          <p:cNvSpPr txBox="1">
            <a:spLocks/>
          </p:cNvSpPr>
          <p:nvPr/>
        </p:nvSpPr>
        <p:spPr>
          <a:xfrm>
            <a:off x="1262612" y="1862391"/>
            <a:ext cx="10668000" cy="191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8800" b="1" dirty="0">
                <a:ln>
                  <a:solidFill>
                    <a:schemeClr val="bg1"/>
                  </a:solidFill>
                </a:ln>
                <a:latin typeface="Freesentation 9 Black" pitchFamily="2" charset="-127"/>
                <a:ea typeface="Freesentation 9 Black" pitchFamily="2" charset="-127"/>
              </a:rPr>
              <a:t>Prompt Optimization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FCE4937-CB2C-4BAE-A13C-BDB05494CF3B}"/>
              </a:ext>
            </a:extLst>
          </p:cNvPr>
          <p:cNvSpPr txBox="1">
            <a:spLocks/>
          </p:cNvSpPr>
          <p:nvPr/>
        </p:nvSpPr>
        <p:spPr>
          <a:xfrm>
            <a:off x="5082540" y="5606875"/>
            <a:ext cx="2026920" cy="96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kumimoji="1" lang="ko-KR" altLang="en-US" sz="4000" dirty="0">
                <a:latin typeface="Freesentation 4 Regular" pitchFamily="2" charset="-127"/>
                <a:ea typeface="Freesentation 4 Regular" pitchFamily="2" charset="-127"/>
              </a:rPr>
              <a:t>홍석범</a:t>
            </a:r>
            <a:endParaRPr kumimoji="1" lang="ko-Kore-KR" altLang="en-US" sz="40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C302287-4ABE-529D-B785-4EE5261E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7412" y="5928360"/>
            <a:ext cx="2743200" cy="793115"/>
          </a:xfrm>
        </p:spPr>
        <p:txBody>
          <a:bodyPr anchor="b"/>
          <a:lstStyle/>
          <a:p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t>1</a:t>
            </a:fld>
            <a:endParaRPr kumimoji="1" lang="ko-Kore-KR" altLang="en-US" sz="320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53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2D27-9F92-57D5-7CB9-E5F446AC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779B7A5-E25C-2A2A-DD09-8A41193CFC0C}"/>
              </a:ext>
            </a:extLst>
          </p:cNvPr>
          <p:cNvSpPr/>
          <p:nvPr/>
        </p:nvSpPr>
        <p:spPr>
          <a:xfrm rot="1490612">
            <a:off x="510395" y="-1016546"/>
            <a:ext cx="82596" cy="5954569"/>
          </a:xfrm>
          <a:prstGeom prst="rect">
            <a:avLst/>
          </a:prstGeom>
          <a:solidFill>
            <a:srgbClr val="1907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C0000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CB63853-950F-DBA2-229A-4099F73DA298}"/>
              </a:ext>
            </a:extLst>
          </p:cNvPr>
          <p:cNvSpPr txBox="1">
            <a:spLocks/>
          </p:cNvSpPr>
          <p:nvPr/>
        </p:nvSpPr>
        <p:spPr>
          <a:xfrm>
            <a:off x="2880623" y="30788"/>
            <a:ext cx="6430754" cy="1749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9600" b="1" dirty="0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[ ˈ</a:t>
            </a:r>
            <a:r>
              <a:rPr kumimoji="1" lang="en-US" altLang="ko-Kore-KR" sz="9600" b="1" dirty="0" err="1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ɪndeks</a:t>
            </a:r>
            <a:r>
              <a:rPr kumimoji="1" lang="en-US" altLang="ko-Kore-KR" sz="9600" b="1" dirty="0">
                <a:solidFill>
                  <a:srgbClr val="1907A3">
                    <a:alpha val="30000"/>
                  </a:srgbClr>
                </a:solidFill>
                <a:latin typeface="Freesentation 8 ExtraBold" pitchFamily="2" charset="-127"/>
                <a:ea typeface="Freesentation 8 ExtraBold" pitchFamily="2" charset="-127"/>
              </a:rPr>
              <a:t> ]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628A347-4174-1817-A736-CB51EB927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0" y="534657"/>
            <a:ext cx="4815840" cy="1912881"/>
          </a:xfrm>
        </p:spPr>
        <p:txBody>
          <a:bodyPr anchor="ctr">
            <a:normAutofit/>
          </a:bodyPr>
          <a:lstStyle/>
          <a:p>
            <a:pPr algn="dist"/>
            <a:r>
              <a:rPr kumimoji="1" lang="en-US" altLang="ko-Kore-KR" sz="8800" b="1" dirty="0">
                <a:ln>
                  <a:solidFill>
                    <a:schemeClr val="bg1"/>
                  </a:solidFill>
                </a:ln>
                <a:latin typeface="Freesentation 9 Black" pitchFamily="2" charset="-127"/>
                <a:ea typeface="Freesentation 9 Black" pitchFamily="2" charset="-127"/>
              </a:rPr>
              <a:t>INDEX</a:t>
            </a:r>
            <a:endParaRPr kumimoji="1" lang="ko-Kore-KR" altLang="en-US" sz="8800" b="1" dirty="0">
              <a:ln>
                <a:solidFill>
                  <a:schemeClr val="bg1"/>
                </a:solidFill>
              </a:ln>
              <a:latin typeface="Freesentation 9 Black" pitchFamily="2" charset="-127"/>
              <a:ea typeface="Freesentation 9 Black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80267B3-4CC1-57DD-61B6-917D9C72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2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D3221E33-1E35-33D2-CFA4-1D2CD12EA421}"/>
              </a:ext>
            </a:extLst>
          </p:cNvPr>
          <p:cNvSpPr txBox="1">
            <a:spLocks/>
          </p:cNvSpPr>
          <p:nvPr/>
        </p:nvSpPr>
        <p:spPr>
          <a:xfrm>
            <a:off x="3190076" y="1379373"/>
            <a:ext cx="5811848" cy="5204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4000" b="1" dirty="0">
                <a:latin typeface="Freesentation 4 Regular" pitchFamily="2" charset="-127"/>
                <a:ea typeface="Freesentation 4 Regular" pitchFamily="2" charset="-127"/>
              </a:rPr>
              <a:t>소개</a:t>
            </a:r>
            <a:endParaRPr lang="en-US" altLang="ko-KR" sz="3600" b="1" dirty="0">
              <a:latin typeface="Freesentation 4 Regular" pitchFamily="2" charset="-127"/>
              <a:ea typeface="Freesentation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4000" b="1" dirty="0" err="1">
                <a:latin typeface="Freesentation 4 Regular" pitchFamily="2" charset="-127"/>
                <a:ea typeface="Freesentation 4 Regular" pitchFamily="2" charset="-127"/>
              </a:rPr>
              <a:t>TextGrad</a:t>
            </a:r>
            <a:r>
              <a:rPr lang="ko-KR" altLang="en-US" sz="4000" b="1" dirty="0">
                <a:latin typeface="Freesentation 4 Regular" pitchFamily="2" charset="-127"/>
                <a:ea typeface="Freesentation 4 Regular" pitchFamily="2" charset="-127"/>
              </a:rPr>
              <a:t>의 핵심 개념</a:t>
            </a:r>
            <a:endParaRPr lang="en-US" altLang="ko-KR" sz="4000" b="1" dirty="0">
              <a:latin typeface="Freesentation 4 Regular" pitchFamily="2" charset="-127"/>
              <a:ea typeface="Freesentation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600" b="1" dirty="0">
                <a:latin typeface="Freesentation 4 Regular" pitchFamily="2" charset="-127"/>
                <a:ea typeface="Freesentation 4 Regular" pitchFamily="2" charset="-127"/>
              </a:rPr>
              <a:t>Working Example</a:t>
            </a:r>
          </a:p>
          <a:p>
            <a:pPr>
              <a:lnSpc>
                <a:spcPct val="150000"/>
              </a:lnSpc>
            </a:pPr>
            <a:r>
              <a:rPr lang="en-US" altLang="ko-KR" sz="3600" b="1" dirty="0" err="1">
                <a:latin typeface="Freesentation 4 Regular" pitchFamily="2" charset="-127"/>
                <a:ea typeface="Freesentation 4 Regular" pitchFamily="2" charset="-127"/>
              </a:rPr>
              <a:t>QnA</a:t>
            </a:r>
            <a:endParaRPr lang="en-US" altLang="ko-KR" sz="3600" b="1" dirty="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842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9990-04D3-D409-7601-48091CB4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EBB575F-07F5-C898-3443-C32251F0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3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67C2D-805E-B042-5F0C-D132BBA757D8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pic>
        <p:nvPicPr>
          <p:cNvPr id="15" name="그림 14" descr="텍스트, 도표, 라인, 스크린샷이(가) 표시된 사진&#10;&#10;자동 생성된 설명">
            <a:extLst>
              <a:ext uri="{FF2B5EF4-FFF2-40B4-BE49-F238E27FC236}">
                <a16:creationId xmlns:a16="http://schemas.microsoft.com/office/drawing/2014/main" id="{6840E82B-2908-2DA0-0627-343E0806E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6" y="2119840"/>
            <a:ext cx="5958466" cy="343369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A65F3FA-B867-E4CD-3EA7-CE383FF3867E}"/>
              </a:ext>
            </a:extLst>
          </p:cNvPr>
          <p:cNvSpPr txBox="1">
            <a:spLocks/>
          </p:cNvSpPr>
          <p:nvPr/>
        </p:nvSpPr>
        <p:spPr>
          <a:xfrm>
            <a:off x="7684468" y="1831727"/>
            <a:ext cx="3414023" cy="1192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n>
                  <a:solidFill>
                    <a:schemeClr val="bg1"/>
                  </a:solidFill>
                </a:ln>
                <a:latin typeface="Freesentation 9 Black" pitchFamily="2" charset="-127"/>
                <a:ea typeface="Freesentation 9 Black" pitchFamily="2" charset="-127"/>
              </a:rPr>
              <a:t>역전파</a:t>
            </a:r>
            <a:endParaRPr kumimoji="1" lang="ko-Kore-KR" altLang="en-US" sz="5400" b="1" dirty="0">
              <a:ln>
                <a:solidFill>
                  <a:schemeClr val="bg1"/>
                </a:solidFill>
              </a:ln>
              <a:latin typeface="Freesentation 9 Black" pitchFamily="2" charset="-127"/>
              <a:ea typeface="Freesentation 9 Black" pitchFamily="2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3EEF0B5-0104-BCCC-9673-2FE706085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8384" y="3023757"/>
            <a:ext cx="5326193" cy="969123"/>
          </a:xfrm>
        </p:spPr>
        <p:txBody>
          <a:bodyPr anchor="ctr">
            <a:normAutofit fontScale="92500" lnSpcReduction="10000"/>
          </a:bodyPr>
          <a:lstStyle/>
          <a:p>
            <a:r>
              <a:rPr kumimoji="1"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모델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kumimoji="1"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내부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에서의 </a:t>
            </a:r>
            <a:endParaRPr kumimoji="1"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kumimoji="1" lang="ko-KR" altLang="en-US" sz="3200" dirty="0" err="1">
                <a:latin typeface="Freesentation 5 Medium" pitchFamily="2" charset="-127"/>
                <a:ea typeface="Freesentation 5 Medium" pitchFamily="2" charset="-127"/>
              </a:rPr>
              <a:t>하이퍼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 파라미터를 조작</a:t>
            </a:r>
            <a:endParaRPr kumimoji="1" lang="ko-Kore-KR" altLang="en-US" sz="3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82F830A-50A1-8CD5-ACB2-C4DDDA5C2D9C}"/>
              </a:ext>
            </a:extLst>
          </p:cNvPr>
          <p:cNvSpPr txBox="1">
            <a:spLocks/>
          </p:cNvSpPr>
          <p:nvPr/>
        </p:nvSpPr>
        <p:spPr>
          <a:xfrm>
            <a:off x="6728384" y="3992880"/>
            <a:ext cx="5326193" cy="1231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3000" dirty="0">
                <a:latin typeface="Freesentation 5 Medium" pitchFamily="2" charset="-127"/>
                <a:ea typeface="Freesentation 5 Medium" pitchFamily="2" charset="-127"/>
              </a:rPr>
              <a:t>출력부터 거꾸로 </a:t>
            </a:r>
            <a:endParaRPr kumimoji="1" lang="en-US" altLang="ko-KR" sz="30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kumimoji="1" lang="ko-KR" altLang="en-US" sz="3000" dirty="0">
                <a:latin typeface="Freesentation 5 Medium" pitchFamily="2" charset="-127"/>
                <a:ea typeface="Freesentation 5 Medium" pitchFamily="2" charset="-127"/>
              </a:rPr>
              <a:t>입력까지 오차를 전파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C0F50A99-58FE-E7F8-0F4B-B82A4C35669B}"/>
              </a:ext>
            </a:extLst>
          </p:cNvPr>
          <p:cNvSpPr txBox="1">
            <a:spLocks/>
          </p:cNvSpPr>
          <p:nvPr/>
        </p:nvSpPr>
        <p:spPr>
          <a:xfrm>
            <a:off x="6728384" y="5001486"/>
            <a:ext cx="5326193" cy="1231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3000" dirty="0">
                <a:solidFill>
                  <a:srgbClr val="1907A3"/>
                </a:solidFill>
                <a:latin typeface="Freesentation 5 Medium" pitchFamily="2" charset="-127"/>
                <a:ea typeface="Freesentation 5 Medium" pitchFamily="2" charset="-127"/>
              </a:rPr>
              <a:t>각 뉴런의 가중치와 편향치를 조정</a:t>
            </a: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A24AACD7-89E1-A296-84F5-05D6415BD058}"/>
              </a:ext>
            </a:extLst>
          </p:cNvPr>
          <p:cNvSpPr txBox="1">
            <a:spLocks/>
          </p:cNvSpPr>
          <p:nvPr/>
        </p:nvSpPr>
        <p:spPr>
          <a:xfrm>
            <a:off x="-548640" y="266589"/>
            <a:ext cx="9144000" cy="96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“</a:t>
            </a:r>
            <a:r>
              <a:rPr kumimoji="1" lang="ko-KR" altLang="en-US" sz="4400" b="1" dirty="0">
                <a:latin typeface="Freesentation 8 ExtraBold" pitchFamily="2" charset="-127"/>
                <a:ea typeface="Freesentation 8 ExtraBold" pitchFamily="2" charset="-127"/>
              </a:rPr>
              <a:t>텍스트</a:t>
            </a:r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”</a:t>
            </a:r>
            <a:r>
              <a:rPr kumimoji="1" lang="ko-KR" altLang="en-US" sz="4400" b="1" dirty="0" err="1">
                <a:latin typeface="Freesentation 8 ExtraBold" pitchFamily="2" charset="-127"/>
                <a:ea typeface="Freesentation 8 ExtraBold" pitchFamily="2" charset="-127"/>
              </a:rPr>
              <a:t>를</a:t>
            </a:r>
            <a:r>
              <a:rPr kumimoji="1" lang="ko-KR" altLang="en-US" sz="4400" b="1" dirty="0">
                <a:latin typeface="Freesentation 8 ExtraBold" pitchFamily="2" charset="-127"/>
                <a:ea typeface="Freesentation 8 ExtraBold" pitchFamily="2" charset="-127"/>
              </a:rPr>
              <a:t> 통한 자동화된 미분</a:t>
            </a:r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 ??</a:t>
            </a:r>
            <a:endParaRPr kumimoji="1" lang="ko-Kore-KR" altLang="en-US" sz="44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378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4A68-C759-3485-C1BD-D350F48A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22EF5E57-9C4F-04FF-8C69-336317ED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4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76208-F6C2-A3FE-433D-0A0612E2E7CE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pic>
        <p:nvPicPr>
          <p:cNvPr id="15" name="그림 14" descr="텍스트, 도표, 라인, 스크린샷이(가) 표시된 사진&#10;&#10;자동 생성된 설명">
            <a:extLst>
              <a:ext uri="{FF2B5EF4-FFF2-40B4-BE49-F238E27FC236}">
                <a16:creationId xmlns:a16="http://schemas.microsoft.com/office/drawing/2014/main" id="{DC2A0368-793C-256A-BAF7-0D787BCA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6" y="2119840"/>
            <a:ext cx="5958466" cy="343369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46F15FFA-E6B7-5C6D-E574-6E635E096D3E}"/>
              </a:ext>
            </a:extLst>
          </p:cNvPr>
          <p:cNvSpPr txBox="1">
            <a:spLocks/>
          </p:cNvSpPr>
          <p:nvPr/>
        </p:nvSpPr>
        <p:spPr>
          <a:xfrm>
            <a:off x="7684468" y="1831727"/>
            <a:ext cx="3414023" cy="1192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n>
                  <a:solidFill>
                    <a:schemeClr val="bg1"/>
                  </a:solidFill>
                </a:ln>
                <a:latin typeface="Freesentation 9 Black" pitchFamily="2" charset="-127"/>
                <a:ea typeface="Freesentation 9 Black" pitchFamily="2" charset="-127"/>
              </a:rPr>
              <a:t>역전파</a:t>
            </a:r>
            <a:endParaRPr kumimoji="1" lang="ko-Kore-KR" altLang="en-US" sz="5400" b="1" dirty="0">
              <a:ln>
                <a:solidFill>
                  <a:schemeClr val="bg1"/>
                </a:solidFill>
              </a:ln>
              <a:latin typeface="Freesentation 9 Black" pitchFamily="2" charset="-127"/>
              <a:ea typeface="Freesentation 9 Black" pitchFamily="2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A12CE22-649A-3A91-94D4-DA8826211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8384" y="3023757"/>
            <a:ext cx="5326193" cy="969123"/>
          </a:xfrm>
        </p:spPr>
        <p:txBody>
          <a:bodyPr anchor="ctr">
            <a:normAutofit fontScale="92500" lnSpcReduction="10000"/>
          </a:bodyPr>
          <a:lstStyle/>
          <a:p>
            <a:r>
              <a:rPr kumimoji="1"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모델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kumimoji="1"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내부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에서의 </a:t>
            </a:r>
            <a:endParaRPr kumimoji="1"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kumimoji="1" lang="ko-KR" altLang="en-US" sz="3200" dirty="0" err="1">
                <a:latin typeface="Freesentation 5 Medium" pitchFamily="2" charset="-127"/>
                <a:ea typeface="Freesentation 5 Medium" pitchFamily="2" charset="-127"/>
              </a:rPr>
              <a:t>하이퍼</a:t>
            </a:r>
            <a:r>
              <a:rPr kumimoji="1" lang="ko-KR" altLang="en-US" sz="3200" dirty="0">
                <a:latin typeface="Freesentation 5 Medium" pitchFamily="2" charset="-127"/>
                <a:ea typeface="Freesentation 5 Medium" pitchFamily="2" charset="-127"/>
              </a:rPr>
              <a:t> 파라미터를 조작</a:t>
            </a:r>
            <a:endParaRPr kumimoji="1" lang="ko-Kore-KR" altLang="en-US" sz="3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78A87A1F-ECF5-F082-D6A5-AF06AD5D8CBB}"/>
              </a:ext>
            </a:extLst>
          </p:cNvPr>
          <p:cNvSpPr txBox="1">
            <a:spLocks/>
          </p:cNvSpPr>
          <p:nvPr/>
        </p:nvSpPr>
        <p:spPr>
          <a:xfrm>
            <a:off x="6728384" y="3992880"/>
            <a:ext cx="5326193" cy="1231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3000" dirty="0">
                <a:latin typeface="Freesentation 5 Medium" pitchFamily="2" charset="-127"/>
                <a:ea typeface="Freesentation 5 Medium" pitchFamily="2" charset="-127"/>
              </a:rPr>
              <a:t>출력부터 거꾸로 </a:t>
            </a:r>
            <a:endParaRPr kumimoji="1" lang="en-US" altLang="ko-KR" sz="30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kumimoji="1" lang="ko-KR" altLang="en-US" sz="3000" dirty="0">
                <a:latin typeface="Freesentation 5 Medium" pitchFamily="2" charset="-127"/>
                <a:ea typeface="Freesentation 5 Medium" pitchFamily="2" charset="-127"/>
              </a:rPr>
              <a:t>입력까지 오차를 전파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31F7FE-B928-AF07-4252-65077D350A3C}"/>
              </a:ext>
            </a:extLst>
          </p:cNvPr>
          <p:cNvSpPr txBox="1">
            <a:spLocks/>
          </p:cNvSpPr>
          <p:nvPr/>
        </p:nvSpPr>
        <p:spPr>
          <a:xfrm>
            <a:off x="6728384" y="5001486"/>
            <a:ext cx="5326193" cy="1231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3000" dirty="0">
                <a:solidFill>
                  <a:srgbClr val="1907A3"/>
                </a:solidFill>
                <a:latin typeface="Freesentation 5 Medium" pitchFamily="2" charset="-127"/>
                <a:ea typeface="Freesentation 5 Medium" pitchFamily="2" charset="-127"/>
              </a:rPr>
              <a:t>각 뉴런의 가중치와 편향치를 조정</a:t>
            </a: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30F9B9F5-411A-2D52-0E13-30F55D099F32}"/>
              </a:ext>
            </a:extLst>
          </p:cNvPr>
          <p:cNvSpPr txBox="1">
            <a:spLocks/>
          </p:cNvSpPr>
          <p:nvPr/>
        </p:nvSpPr>
        <p:spPr>
          <a:xfrm>
            <a:off x="-548640" y="266589"/>
            <a:ext cx="9144000" cy="96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“</a:t>
            </a:r>
            <a:r>
              <a:rPr kumimoji="1" lang="ko-KR" altLang="en-US" sz="4400" b="1" dirty="0">
                <a:latin typeface="Freesentation 8 ExtraBold" pitchFamily="2" charset="-127"/>
                <a:ea typeface="Freesentation 8 ExtraBold" pitchFamily="2" charset="-127"/>
              </a:rPr>
              <a:t>텍스트</a:t>
            </a:r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”</a:t>
            </a:r>
            <a:r>
              <a:rPr kumimoji="1" lang="ko-KR" altLang="en-US" sz="4400" b="1" dirty="0" err="1">
                <a:latin typeface="Freesentation 8 ExtraBold" pitchFamily="2" charset="-127"/>
                <a:ea typeface="Freesentation 8 ExtraBold" pitchFamily="2" charset="-127"/>
              </a:rPr>
              <a:t>를</a:t>
            </a:r>
            <a:r>
              <a:rPr kumimoji="1" lang="ko-KR" altLang="en-US" sz="4400" b="1" dirty="0">
                <a:latin typeface="Freesentation 8 ExtraBold" pitchFamily="2" charset="-127"/>
                <a:ea typeface="Freesentation 8 ExtraBold" pitchFamily="2" charset="-127"/>
              </a:rPr>
              <a:t> 통한 자동화된 미분</a:t>
            </a:r>
            <a:r>
              <a:rPr kumimoji="1" lang="en-US" altLang="ko-KR" sz="4400" b="1" dirty="0">
                <a:latin typeface="Freesentation 8 ExtraBold" pitchFamily="2" charset="-127"/>
                <a:ea typeface="Freesentation 8 ExtraBold" pitchFamily="2" charset="-127"/>
              </a:rPr>
              <a:t> ??</a:t>
            </a:r>
            <a:endParaRPr kumimoji="1" lang="ko-Kore-KR" altLang="en-US" sz="44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75048A-888B-DBAA-93F6-176B6EA4BDEB}"/>
              </a:ext>
            </a:extLst>
          </p:cNvPr>
          <p:cNvSpPr/>
          <p:nvPr/>
        </p:nvSpPr>
        <p:spPr>
          <a:xfrm>
            <a:off x="137423" y="1112520"/>
            <a:ext cx="11917154" cy="512044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26BBC1-50BA-7410-B60C-B26E9C98D5BE}"/>
              </a:ext>
            </a:extLst>
          </p:cNvPr>
          <p:cNvSpPr txBox="1">
            <a:spLocks/>
          </p:cNvSpPr>
          <p:nvPr/>
        </p:nvSpPr>
        <p:spPr>
          <a:xfrm>
            <a:off x="2081541" y="1516445"/>
            <a:ext cx="8028917" cy="2658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4000" b="1">
                <a:latin typeface="Freesentation 8 ExtraBold" pitchFamily="2" charset="-127"/>
                <a:ea typeface="Freesentation 8 ExtraBold" pitchFamily="2" charset="-127"/>
              </a:rPr>
              <a:t>모델을 포괄하는 </a:t>
            </a:r>
            <a:endParaRPr kumimoji="1" lang="en-US" altLang="ko-KR" sz="4000" b="1">
              <a:latin typeface="Freesentation 8 ExtraBold" pitchFamily="2" charset="-127"/>
              <a:ea typeface="Freesentation 8 ExtraBold" pitchFamily="2" charset="-127"/>
            </a:endParaRPr>
          </a:p>
          <a:p>
            <a:r>
              <a:rPr kumimoji="1" lang="en-US" altLang="ko-KR" sz="4000" b="1">
                <a:solidFill>
                  <a:srgbClr val="C00000"/>
                </a:solidFill>
                <a:latin typeface="Freesentation 8 ExtraBold" pitchFamily="2" charset="-127"/>
                <a:ea typeface="Freesentation 8 ExtraBold" pitchFamily="2" charset="-127"/>
              </a:rPr>
              <a:t>AI </a:t>
            </a:r>
            <a:r>
              <a:rPr kumimoji="1" lang="ko-KR" altLang="en-US" sz="4000" b="1">
                <a:solidFill>
                  <a:srgbClr val="C00000"/>
                </a:solidFill>
                <a:latin typeface="Freesentation 8 ExtraBold" pitchFamily="2" charset="-127"/>
                <a:ea typeface="Freesentation 8 ExtraBold" pitchFamily="2" charset="-127"/>
              </a:rPr>
              <a:t>시스템 전체</a:t>
            </a:r>
            <a:r>
              <a:rPr kumimoji="1" lang="ko-KR" altLang="en-US" sz="4000" b="1">
                <a:latin typeface="Freesentation 8 ExtraBold" pitchFamily="2" charset="-127"/>
                <a:ea typeface="Freesentation 8 ExtraBold" pitchFamily="2" charset="-127"/>
              </a:rPr>
              <a:t>에서의</a:t>
            </a:r>
            <a:endParaRPr kumimoji="1" lang="en-US" altLang="ko-KR" sz="4000" b="1">
              <a:latin typeface="Freesentation 8 ExtraBold" pitchFamily="2" charset="-127"/>
              <a:ea typeface="Freesentation 8 ExtraBold" pitchFamily="2" charset="-127"/>
            </a:endParaRPr>
          </a:p>
          <a:p>
            <a:r>
              <a:rPr kumimoji="1" lang="ko-KR" altLang="en-US" sz="4000" b="1">
                <a:solidFill>
                  <a:srgbClr val="1907A3"/>
                </a:solidFill>
                <a:latin typeface="Freesentation 8 ExtraBold" pitchFamily="2" charset="-127"/>
                <a:ea typeface="Freesentation 8 ExtraBold" pitchFamily="2" charset="-127"/>
              </a:rPr>
              <a:t>하이퍼 파라미터</a:t>
            </a:r>
            <a:r>
              <a:rPr kumimoji="1" lang="ko-KR" altLang="en-US" sz="4000" b="1">
                <a:latin typeface="Freesentation 8 ExtraBold" pitchFamily="2" charset="-127"/>
                <a:ea typeface="Freesentation 8 ExtraBold" pitchFamily="2" charset="-127"/>
              </a:rPr>
              <a:t>는 무엇인가</a:t>
            </a:r>
            <a:r>
              <a:rPr kumimoji="1" lang="en-US" altLang="ko-KR" sz="4000" b="1">
                <a:latin typeface="Freesentation 8 ExtraBold" pitchFamily="2" charset="-127"/>
                <a:ea typeface="Freesentation 8 ExtraBold" pitchFamily="2" charset="-127"/>
              </a:rPr>
              <a:t>?</a:t>
            </a:r>
            <a:r>
              <a:rPr kumimoji="1" lang="ko-KR" altLang="en-US" sz="4000" b="1">
                <a:latin typeface="Freesentation 8 ExtraBold" pitchFamily="2" charset="-127"/>
                <a:ea typeface="Freesentation 8 ExtraBold" pitchFamily="2" charset="-127"/>
              </a:rPr>
              <a:t> </a:t>
            </a:r>
            <a:endParaRPr kumimoji="1" lang="en-US" altLang="ko-KR" sz="40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pic>
        <p:nvPicPr>
          <p:cNvPr id="7" name="그림 6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5B90FED6-BC64-F036-758B-1F9BAF68D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384" y="4700053"/>
            <a:ext cx="4229229" cy="8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7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078E-11A4-59CE-E69D-FBDD95B0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08AC28A-C35A-BF5C-E512-828F53FE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5926785"/>
            <a:ext cx="2743200" cy="793115"/>
          </a:xfrm>
        </p:spPr>
        <p:txBody>
          <a:bodyPr anchor="b"/>
          <a:lstStyle/>
          <a:p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/>
              <a:t>5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DF21C2C6-B3E2-8517-BD3D-3DEEBBDF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E748E-1766-43F5-E846-EAC340169D35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pic>
        <p:nvPicPr>
          <p:cNvPr id="25" name="그림 2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1394F1C0-A25E-99B5-7359-A733621A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70" y="1989252"/>
            <a:ext cx="10326859" cy="419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1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8D19-D0B4-A8C4-1F35-A5910AEFA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0054864-FEFB-32A5-3AF2-95BF8C2E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6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05871C71-FC60-1B1E-B3C1-74C345C8F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66FFE1-0950-3606-40C6-9B7845302BED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ADE6B2BA-190E-DE5B-4312-26F64A482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783" y="2025891"/>
            <a:ext cx="5379457" cy="1451665"/>
          </a:xfrm>
        </p:spPr>
        <p:txBody>
          <a:bodyPr anchor="ctr">
            <a:normAutofit/>
          </a:bodyPr>
          <a:lstStyle/>
          <a:p>
            <a:r>
              <a:rPr lang="ko-KR" altLang="en-US" sz="4800" b="1" dirty="0">
                <a:effectLst/>
                <a:latin typeface="Freesentation 8 ExtraBold" pitchFamily="2" charset="-127"/>
                <a:ea typeface="Freesentation 8 ExtraBold" pitchFamily="2" charset="-127"/>
              </a:rPr>
              <a:t>텍스트 기반 자동 미분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06698EF-7C06-49FE-AF13-7DF4CEE04D31}"/>
              </a:ext>
            </a:extLst>
          </p:cNvPr>
          <p:cNvSpPr txBox="1">
            <a:spLocks/>
          </p:cNvSpPr>
          <p:nvPr/>
        </p:nvSpPr>
        <p:spPr>
          <a:xfrm>
            <a:off x="4023623" y="3209346"/>
            <a:ext cx="7131794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800" b="1" dirty="0">
                <a:latin typeface="Freesentation 8 ExtraBold" pitchFamily="2" charset="-127"/>
                <a:ea typeface="Freesentation 8 ExtraBold" pitchFamily="2" charset="-127"/>
              </a:rPr>
              <a:t>자연어 피드백을 통한 </a:t>
            </a:r>
            <a:r>
              <a:rPr lang="ko-KR" altLang="en-US" sz="4800" b="1" dirty="0" err="1">
                <a:latin typeface="Freesentation 8 ExtraBold" pitchFamily="2" charset="-127"/>
                <a:ea typeface="Freesentation 8 ExtraBold" pitchFamily="2" charset="-127"/>
              </a:rPr>
              <a:t>역전파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C439F80-64E3-5F22-999D-888AB38EA886}"/>
              </a:ext>
            </a:extLst>
          </p:cNvPr>
          <p:cNvSpPr txBox="1">
            <a:spLocks/>
          </p:cNvSpPr>
          <p:nvPr/>
        </p:nvSpPr>
        <p:spPr>
          <a:xfrm>
            <a:off x="2880623" y="4392801"/>
            <a:ext cx="5379457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800" b="1" dirty="0">
                <a:latin typeface="Freesentation 8 ExtraBold" pitchFamily="2" charset="-127"/>
                <a:ea typeface="Freesentation 8 ExtraBold" pitchFamily="2" charset="-127"/>
              </a:rPr>
              <a:t>텍스트 기반 경사 </a:t>
            </a:r>
            <a:r>
              <a:rPr lang="ko-KR" altLang="en-US" sz="4800" b="1" dirty="0" err="1">
                <a:latin typeface="Freesentation 8 ExtraBold" pitchFamily="2" charset="-127"/>
                <a:ea typeface="Freesentation 8 ExtraBold" pitchFamily="2" charset="-127"/>
              </a:rPr>
              <a:t>하강법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588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517A-C895-B717-0668-0C84E7FD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2306300-F513-E84A-6B7A-F0732844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7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66DB90F2-C9D8-172E-4FE8-3B653227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084AF7-189D-1E3F-D144-DD23A592CB1A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27135D40-367A-427A-E068-748F87A3F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270" y="1614408"/>
            <a:ext cx="5379457" cy="1451665"/>
          </a:xfrm>
        </p:spPr>
        <p:txBody>
          <a:bodyPr anchor="ctr">
            <a:normAutofit/>
          </a:bodyPr>
          <a:lstStyle/>
          <a:p>
            <a:r>
              <a:rPr lang="ko-KR" altLang="en-US" sz="4800" b="1" dirty="0">
                <a:effectLst/>
                <a:latin typeface="Freesentation 8 ExtraBold" pitchFamily="2" charset="-127"/>
                <a:ea typeface="Freesentation 8 ExtraBold" pitchFamily="2" charset="-127"/>
              </a:rPr>
              <a:t>텍스트 기반 자동 미분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40D85D9-30AA-43AE-74CC-240E37B03B76}"/>
              </a:ext>
            </a:extLst>
          </p:cNvPr>
          <p:cNvSpPr txBox="1">
            <a:spLocks/>
          </p:cNvSpPr>
          <p:nvPr/>
        </p:nvSpPr>
        <p:spPr>
          <a:xfrm>
            <a:off x="1295531" y="2908545"/>
            <a:ext cx="9600937" cy="3160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기존의 수치 기반 자동 미분 개념을 텍스트 도메인으로 확장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 </a:t>
            </a:r>
          </a:p>
          <a:p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계산 그래프의 </a:t>
            </a:r>
            <a:r>
              <a:rPr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각 노드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는 텍스트 변수로 표현되며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, </a:t>
            </a: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변수 간의 관계는 </a:t>
            </a:r>
            <a:r>
              <a:rPr lang="ko-KR" altLang="en-US" sz="3200" dirty="0">
                <a:solidFill>
                  <a:srgbClr val="1907A3"/>
                </a:solidFill>
                <a:latin typeface="Freesentation 5 Medium" pitchFamily="2" charset="-127"/>
                <a:ea typeface="Freesentation 5 Medium" pitchFamily="2" charset="-127"/>
              </a:rPr>
              <a:t>함수 호출로 정의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됩니다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</a:t>
            </a:r>
          </a:p>
          <a:p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 </a:t>
            </a: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이 함수들은 언어 모델 </a:t>
            </a:r>
            <a:r>
              <a:rPr lang="en" altLang="ko-KR" sz="3200" dirty="0">
                <a:latin typeface="Freesentation 5 Medium" pitchFamily="2" charset="-127"/>
                <a:ea typeface="Freesentation 5 Medium" pitchFamily="2" charset="-127"/>
              </a:rPr>
              <a:t>API 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호출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, 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시뮬레이터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, 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외부 수치 해석기 등</a:t>
            </a:r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다양한 형태를 가질 수 있습니다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</a:t>
            </a:r>
            <a:endParaRPr kumimoji="1" lang="ko-Kore-KR" altLang="en-US" sz="3200" dirty="0">
              <a:ln>
                <a:solidFill>
                  <a:schemeClr val="bg1"/>
                </a:solidFill>
              </a:ln>
              <a:latin typeface="Freesentation 5 Medium" pitchFamily="2" charset="-127"/>
              <a:ea typeface="Freesentation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44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97EA-B520-7C48-6FCC-3D203318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8FAD92C-F8E3-067A-1BFD-EC3F992BD378}"/>
              </a:ext>
            </a:extLst>
          </p:cNvPr>
          <p:cNvSpPr txBox="1">
            <a:spLocks/>
          </p:cNvSpPr>
          <p:nvPr/>
        </p:nvSpPr>
        <p:spPr>
          <a:xfrm>
            <a:off x="2530102" y="1585161"/>
            <a:ext cx="7131794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800" b="1" dirty="0">
                <a:latin typeface="Freesentation 8 ExtraBold" pitchFamily="2" charset="-127"/>
                <a:ea typeface="Freesentation 8 ExtraBold" pitchFamily="2" charset="-127"/>
              </a:rPr>
              <a:t>자연어 피드백을 통한 </a:t>
            </a:r>
            <a:r>
              <a:rPr lang="ko-KR" altLang="en-US" sz="4800" b="1" dirty="0" err="1">
                <a:latin typeface="Freesentation 8 ExtraBold" pitchFamily="2" charset="-127"/>
                <a:ea typeface="Freesentation 8 ExtraBold" pitchFamily="2" charset="-127"/>
              </a:rPr>
              <a:t>역전파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530A2BB-C617-6C47-FE6B-04C02442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8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45B9508B-4D9B-7D83-3AFF-40B6306F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6FA0E5-812C-969D-6B9C-1D12B54F2A3B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06EDDA-8BE7-ECD8-CF87-D46359450B30}"/>
              </a:ext>
            </a:extLst>
          </p:cNvPr>
          <p:cNvSpPr txBox="1">
            <a:spLocks/>
          </p:cNvSpPr>
          <p:nvPr/>
        </p:nvSpPr>
        <p:spPr>
          <a:xfrm>
            <a:off x="1295530" y="2809956"/>
            <a:ext cx="9600937" cy="3160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 기존의 수치 </a:t>
            </a:r>
            <a:r>
              <a:rPr lang="ko-KR" altLang="en-US" sz="3200" dirty="0" err="1">
                <a:latin typeface="Freesentation 5 Medium" pitchFamily="2" charset="-127"/>
                <a:ea typeface="Freesentation 5 Medium" pitchFamily="2" charset="-127"/>
              </a:rPr>
              <a:t>그래디언트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 대신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, </a:t>
            </a: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언어 모델이 생성한 </a:t>
            </a:r>
            <a:r>
              <a:rPr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자연어 피드백이 </a:t>
            </a:r>
            <a:r>
              <a:rPr lang="ko-KR" altLang="en-US" sz="3200" dirty="0" err="1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역전파</a:t>
            </a:r>
            <a:r>
              <a:rPr lang="en-US" altLang="ko-KR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.</a:t>
            </a:r>
            <a:br>
              <a:rPr lang="en-US" altLang="ko-KR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</a:br>
            <a:endParaRPr lang="en-US" altLang="ko-KR" sz="3200" dirty="0">
              <a:solidFill>
                <a:srgbClr val="C00000"/>
              </a:solidFill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이 피드백은 각 변수를 어떻게 변경해야 </a:t>
            </a:r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전체 시스템의 성능이 향상될지에 대한 </a:t>
            </a:r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solidFill>
                  <a:srgbClr val="1907A3"/>
                </a:solidFill>
                <a:latin typeface="Freesentation 5 Medium" pitchFamily="2" charset="-127"/>
                <a:ea typeface="Freesentation 5 Medium" pitchFamily="2" charset="-127"/>
              </a:rPr>
              <a:t>구체적이고 해석 가능한 제안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을 포함합니다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</a:t>
            </a:r>
            <a:endParaRPr kumimoji="1" lang="ko-Kore-KR" altLang="en-US" sz="3200" dirty="0">
              <a:ln>
                <a:solidFill>
                  <a:schemeClr val="bg1"/>
                </a:solidFill>
              </a:ln>
              <a:latin typeface="Freesentation 5 Medium" pitchFamily="2" charset="-127"/>
              <a:ea typeface="Freesentation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53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1AFE7-EA70-5F0B-D745-37B88B14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756DA77-C4F7-16F6-9E1A-25DE689DB092}"/>
              </a:ext>
            </a:extLst>
          </p:cNvPr>
          <p:cNvSpPr txBox="1">
            <a:spLocks/>
          </p:cNvSpPr>
          <p:nvPr/>
        </p:nvSpPr>
        <p:spPr>
          <a:xfrm>
            <a:off x="3406269" y="1659188"/>
            <a:ext cx="5379457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800" b="1" dirty="0">
                <a:latin typeface="Freesentation 8 ExtraBold" pitchFamily="2" charset="-127"/>
                <a:ea typeface="Freesentation 8 ExtraBold" pitchFamily="2" charset="-127"/>
              </a:rPr>
              <a:t>텍스트 기반 경사 </a:t>
            </a:r>
            <a:r>
              <a:rPr lang="ko-KR" altLang="en-US" sz="4800" b="1" dirty="0" err="1">
                <a:latin typeface="Freesentation 8 ExtraBold" pitchFamily="2" charset="-127"/>
                <a:ea typeface="Freesentation 8 ExtraBold" pitchFamily="2" charset="-127"/>
              </a:rPr>
              <a:t>하강법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A3798F9-BD8D-B828-F048-84D29147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9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47A9EB82-F947-3A5F-97CA-815938C2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8DA69B-5475-566B-146F-B201AEF11C74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1A4A443-FAE0-2CA7-7B2E-CDF84CBC195B}"/>
              </a:ext>
            </a:extLst>
          </p:cNvPr>
          <p:cNvSpPr txBox="1">
            <a:spLocks/>
          </p:cNvSpPr>
          <p:nvPr/>
        </p:nvSpPr>
        <p:spPr>
          <a:xfrm>
            <a:off x="1295530" y="2809956"/>
            <a:ext cx="9600937" cy="3575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자연어 피드백을 바탕으로 변수를 실제로 업데이트하는 과정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 </a:t>
            </a:r>
          </a:p>
          <a:p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en" altLang="ko-KR" sz="3200" dirty="0">
                <a:solidFill>
                  <a:srgbClr val="1907A3"/>
                </a:solidFill>
                <a:latin typeface="Freesentation 5 Medium" pitchFamily="2" charset="-127"/>
                <a:ea typeface="Freesentation 5 Medium" pitchFamily="2" charset="-127"/>
              </a:rPr>
              <a:t>TGD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는 현재 변수 값과 수집된 피드백을 입력으로 받아 </a:t>
            </a:r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개선된 변수 값을 생성합니다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 </a:t>
            </a:r>
          </a:p>
          <a:p>
            <a:endParaRPr lang="en-US" altLang="ko-KR" sz="32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이 과정에서 언어 모델의 추론 능력이 활용되어 단순한 수치 연산 이상의 </a:t>
            </a:r>
            <a:r>
              <a:rPr lang="ko-KR" altLang="en-US" sz="3200" dirty="0">
                <a:solidFill>
                  <a:srgbClr val="C00000"/>
                </a:solidFill>
                <a:latin typeface="Freesentation 5 Medium" pitchFamily="2" charset="-127"/>
                <a:ea typeface="Freesentation 5 Medium" pitchFamily="2" charset="-127"/>
              </a:rPr>
              <a:t>복잡한 최적화가 가능</a:t>
            </a:r>
            <a:r>
              <a:rPr lang="ko-KR" altLang="en-US" sz="3200" dirty="0">
                <a:latin typeface="Freesentation 5 Medium" pitchFamily="2" charset="-127"/>
                <a:ea typeface="Freesentation 5 Medium" pitchFamily="2" charset="-127"/>
              </a:rPr>
              <a:t>해집니다</a:t>
            </a:r>
            <a:r>
              <a:rPr lang="en-US" altLang="ko-KR" sz="3200" dirty="0">
                <a:latin typeface="Freesentation 5 Medium" pitchFamily="2" charset="-127"/>
                <a:ea typeface="Freesentation 5 Medium" pitchFamily="2" charset="-127"/>
              </a:rPr>
              <a:t>.</a:t>
            </a:r>
            <a:endParaRPr kumimoji="1" lang="ko-Kore-KR" altLang="en-US" sz="3200" dirty="0">
              <a:ln>
                <a:solidFill>
                  <a:schemeClr val="bg1"/>
                </a:solidFill>
              </a:ln>
              <a:latin typeface="Freesentation 5 Medium" pitchFamily="2" charset="-127"/>
              <a:ea typeface="Freesentation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424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4659-07B0-1209-2D28-86B4F18C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5272498-3664-8AC2-FB43-3261F598F304}"/>
              </a:ext>
            </a:extLst>
          </p:cNvPr>
          <p:cNvSpPr txBox="1">
            <a:spLocks/>
          </p:cNvSpPr>
          <p:nvPr/>
        </p:nvSpPr>
        <p:spPr>
          <a:xfrm>
            <a:off x="3406271" y="2703167"/>
            <a:ext cx="5379457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b="1" dirty="0">
                <a:latin typeface="Freesentation 8 ExtraBold" pitchFamily="2" charset="-127"/>
                <a:ea typeface="Freesentation 8 ExtraBold" pitchFamily="2" charset="-127"/>
              </a:rPr>
              <a:t>Working Example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8F4E907-883F-08C6-1A61-F09F9F6A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10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4ECECA88-3168-0F84-A542-466AEF65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82BF4C-90EB-577B-2304-CBC7B8516E32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</p:spTree>
    <p:extLst>
      <p:ext uri="{BB962C8B-B14F-4D97-AF65-F5344CB8AC3E}">
        <p14:creationId xmlns:p14="http://schemas.microsoft.com/office/powerpoint/2010/main" val="3401691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DA4D-BD96-9715-0623-E6762EB1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F17FC3E-ECD2-1C1B-B46F-3A2ACA980A73}"/>
              </a:ext>
            </a:extLst>
          </p:cNvPr>
          <p:cNvSpPr txBox="1">
            <a:spLocks/>
          </p:cNvSpPr>
          <p:nvPr/>
        </p:nvSpPr>
        <p:spPr>
          <a:xfrm>
            <a:off x="295209" y="3186984"/>
            <a:ext cx="5379457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8000" b="1" dirty="0" err="1">
                <a:latin typeface="Freesentation 8 ExtraBold" pitchFamily="2" charset="-127"/>
                <a:ea typeface="Freesentation 8 ExtraBold" pitchFamily="2" charset="-127"/>
              </a:rPr>
              <a:t>QnA</a:t>
            </a:r>
            <a:endParaRPr kumimoji="1" lang="ko-Kore-KR" altLang="en-US" sz="80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43E4924-E19A-39EC-AFCE-CD305D3C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423" y="5926785"/>
            <a:ext cx="2743200" cy="793115"/>
          </a:xfrm>
        </p:spPr>
        <p:txBody>
          <a:bodyPr anchor="b"/>
          <a:lstStyle/>
          <a:p>
            <a:pPr algn="l"/>
            <a:fld id="{30BAF1F0-1F37-154F-AE66-282A2F27AFA1}" type="slidenum">
              <a:rPr kumimoji="1" lang="ko-Kore-KR" altLang="en-US" sz="3200" smtClean="0">
                <a:latin typeface="Freesentation 4 Regular" pitchFamily="2" charset="-127"/>
                <a:ea typeface="Freesentation 4 Regular" pitchFamily="2" charset="-127"/>
              </a:rPr>
              <a:pPr algn="l"/>
              <a:t>11</a:t>
            </a:fld>
            <a:endParaRPr kumimoji="1" lang="ko-Kore-KR" altLang="en-US" sz="32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pic>
        <p:nvPicPr>
          <p:cNvPr id="9" name="그림 8" descr="폰트, 그래픽, 그래픽 디자인, 텍스트이(가) 표시된 사진&#10;&#10;자동 생성된 설명">
            <a:extLst>
              <a:ext uri="{FF2B5EF4-FFF2-40B4-BE49-F238E27FC236}">
                <a16:creationId xmlns:a16="http://schemas.microsoft.com/office/drawing/2014/main" id="{AFC11F01-A0B8-9515-594E-4F793CF3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3" y="138100"/>
            <a:ext cx="7772400" cy="1608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515993-67CD-1BA1-AF37-455745976EC2}"/>
              </a:ext>
            </a:extLst>
          </p:cNvPr>
          <p:cNvSpPr txBox="1"/>
          <p:nvPr/>
        </p:nvSpPr>
        <p:spPr>
          <a:xfrm>
            <a:off x="7429237" y="2446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en-US" dirty="0">
                <a:latin typeface="Freesentation 4 Regular" pitchFamily="2" charset="-127"/>
                <a:ea typeface="Freesentation 4 Regular" pitchFamily="2" charset="-127"/>
              </a:rPr>
              <a:t>https://arxiv.org/pdf/2406.07496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65D942-71F0-BD24-24A7-EAC2D674FD23}"/>
              </a:ext>
            </a:extLst>
          </p:cNvPr>
          <p:cNvSpPr txBox="1">
            <a:spLocks/>
          </p:cNvSpPr>
          <p:nvPr/>
        </p:nvSpPr>
        <p:spPr>
          <a:xfrm>
            <a:off x="5674666" y="2871194"/>
            <a:ext cx="6222125" cy="3364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Freesentation 8 ExtraBold" pitchFamily="2" charset="-127"/>
                <a:ea typeface="Freesentation 8 ExtraBold" pitchFamily="2" charset="-127"/>
                <a:hlinkClick r:id="rId3"/>
              </a:rPr>
              <a:t>https://arxiv.org/abs/2406.07496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Freesentation 8 ExtraBold" pitchFamily="2" charset="-127"/>
                <a:ea typeface="Freesentation 8 ExtraBold" pitchFamily="2" charset="-127"/>
                <a:hlinkClick r:id="rId3"/>
              </a:rPr>
              <a:t>https://github.com/zou-group/textgrad</a:t>
            </a:r>
            <a:endParaRPr lang="en-US" altLang="ko-KR" sz="2400" b="1" dirty="0">
              <a:latin typeface="Freesentation 8 ExtraBold" pitchFamily="2" charset="-127"/>
              <a:ea typeface="Freesentation 8 ExtraBold" pitchFamily="2" charset="-127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Freesentation 8 ExtraBold" pitchFamily="2" charset="-127"/>
                <a:ea typeface="Freesentation 8 ExtraBold" pitchFamily="2" charset="-127"/>
                <a:hlinkClick r:id="rId4"/>
              </a:rPr>
              <a:t>https://youtu.be/Qks4UEsRwl0</a:t>
            </a:r>
            <a:endParaRPr lang="en-US" altLang="ko-KR" sz="2400" b="1" dirty="0">
              <a:latin typeface="Freesentation 8 ExtraBold" pitchFamily="2" charset="-127"/>
              <a:ea typeface="Freesentation 8 ExtraBold" pitchFamily="2" charset="-127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Freesentation 8 ExtraBold" pitchFamily="2" charset="-127"/>
                <a:ea typeface="Freesentation 8 ExtraBold" pitchFamily="2" charset="-127"/>
                <a:hlinkClick r:id="rId5"/>
              </a:rPr>
              <a:t>https://huggingface.co/TextGrad</a:t>
            </a:r>
            <a:endParaRPr lang="en-US" altLang="ko-KR" sz="24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0B5B4F8-1419-5144-5703-1F8BF48779C3}"/>
              </a:ext>
            </a:extLst>
          </p:cNvPr>
          <p:cNvSpPr txBox="1">
            <a:spLocks/>
          </p:cNvSpPr>
          <p:nvPr/>
        </p:nvSpPr>
        <p:spPr>
          <a:xfrm>
            <a:off x="5778980" y="1746587"/>
            <a:ext cx="5379457" cy="145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b="1" dirty="0">
                <a:latin typeface="Freesentation 8 ExtraBold" pitchFamily="2" charset="-127"/>
                <a:ea typeface="Freesentation 8 ExtraBold" pitchFamily="2" charset="-127"/>
              </a:rPr>
              <a:t>Reference</a:t>
            </a:r>
            <a:endParaRPr kumimoji="1" lang="ko-Kore-KR" altLang="en-US" sz="4800" b="1" dirty="0">
              <a:ln>
                <a:solidFill>
                  <a:schemeClr val="bg1"/>
                </a:solidFill>
              </a:ln>
              <a:latin typeface="Freesentation 8 ExtraBold" pitchFamily="2" charset="-127"/>
              <a:ea typeface="Freesentation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23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355</Words>
  <Application>Microsoft Macintosh PowerPoint</Application>
  <PresentationFormat>와이드스크린</PresentationFormat>
  <Paragraphs>79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Freesentation 4 Regular</vt:lpstr>
      <vt:lpstr>Freesentation 5 Medium</vt:lpstr>
      <vt:lpstr>Freesentation 8 ExtraBold</vt:lpstr>
      <vt:lpstr>Freesentation 9 Black</vt:lpstr>
      <vt:lpstr>Aptos</vt:lpstr>
      <vt:lpstr>Aptos Display</vt:lpstr>
      <vt:lpstr>Arial</vt:lpstr>
      <vt:lpstr>Office 테마</vt:lpstr>
      <vt:lpstr>Bleeding Edge</vt:lpstr>
      <vt:lpstr>INDEX</vt:lpstr>
      <vt:lpstr>PowerPoint 프레젠테이션</vt:lpstr>
      <vt:lpstr>PowerPoint 프레젠테이션</vt:lpstr>
      <vt:lpstr>PowerPoint 프레젠테이션</vt:lpstr>
      <vt:lpstr>텍스트 기반 자동 미분</vt:lpstr>
      <vt:lpstr>텍스트 기반 자동 미분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석범 홍</dc:creator>
  <cp:lastModifiedBy>석범 홍</cp:lastModifiedBy>
  <cp:revision>3</cp:revision>
  <dcterms:created xsi:type="dcterms:W3CDTF">2024-10-14T12:29:48Z</dcterms:created>
  <dcterms:modified xsi:type="dcterms:W3CDTF">2024-10-14T23:34:05Z</dcterms:modified>
</cp:coreProperties>
</file>